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0" y="219456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QueryStudio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</a:defRPr>
            </a:pPr>
            <a:r>
              <a:t>Self-Service Data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Query any data source  •  Partition-aware execution  •  Async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93776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D48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9601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75564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64208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Connect to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On-prem S3, AWS S3, local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0">
                <a:solidFill>
                  <a:srgbClr val="38BDF8"/>
                </a:solidFill>
              </a:defRPr>
            </a:pPr>
            <a:r>
              <a:t>5–7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10332720" cy="9601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89864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07208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Partition Pruning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How we make big queries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0">
                <a:solidFill>
                  <a:srgbClr val="38BDF8"/>
                </a:solidFill>
              </a:defRPr>
            </a:pPr>
            <a:r>
              <a:t>7–10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10332720" cy="9601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404164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950208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Save &amp; Reuse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434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Full config preserved, one-click reload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114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0">
                <a:solidFill>
                  <a:srgbClr val="38BDF8"/>
                </a:solidFill>
              </a:defRPr>
            </a:pPr>
            <a:r>
              <a:t>2–3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10332720" cy="9601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5184648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93208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Async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4864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Submit, close browser, come back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257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0">
                <a:solidFill>
                  <a:srgbClr val="38BDF8"/>
                </a:solidFill>
              </a:defRPr>
            </a:pPr>
            <a:r>
              <a:t>3–5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Connect to Any Data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One platform for on-prem storage, cloud, and local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4747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On-Prem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</a:defRPr>
            </a:pPr>
            <a:r>
              <a:t>Dell ECS / 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Direct endpoint URL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Path-style access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No gateway needed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Same experience as 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34747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AWS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51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</a:defRPr>
            </a:pPr>
            <a: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089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Multi-region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IAM role or access key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Session token support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Same interface as on-prem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34747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8328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Local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</a:defRPr>
            </a:pPr>
            <a:r>
              <a:t>Upload &amp;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089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Parquet, CSV, Excel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Drag-and-drop upload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Query immediately</a:t>
            </a:r>
          </a:p>
          <a:p>
            <a:pPr>
              <a:spcAft>
                <a:spcPts val="700"/>
              </a:spcAft>
              <a:defRPr sz="1400">
                <a:solidFill>
                  <a:srgbClr val="CBD5E1"/>
                </a:solidFill>
              </a:defRPr>
            </a:pPr>
            <a:r>
              <a:t>  •  Self-service for end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Same interface everywhere. End users pick a connection and start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Setting Up a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Each source type has its own configuration. Test before you save.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On-Prem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Endpoint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https://ecs.corp.net:9021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8444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data-lake-prod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Access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AKIA...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Secret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****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Path-Style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3036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01168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201168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8346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03580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corp-analytics-prod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38328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58444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us-east-1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393192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Auth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13308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IAM Role  or  Access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4805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Access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68172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02920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Secret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523036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(optional)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01168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338328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Local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346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03580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Browse folder  or  Drag &amp; drop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8328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Formats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58444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Parquet, CSV,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3192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Size Limit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13308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Per org config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6355080"/>
            <a:ext cx="10698480" cy="365760"/>
          </a:xfrm>
          <a:prstGeom prst="roundRect">
            <a:avLst>
              <a:gd name="adj" fmla="val 3000"/>
            </a:avLst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38251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Fill in details  →  Test Connection  →  Green check  →  Save  →  Appears in sidebar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Partition Pruning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Iceberg tables split data into date partitions. We only read the ones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How it works: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2 years of daily data = ~730 partitions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Each partition = separate files on S3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QueryStudio reads Iceberg metadata to find them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What end users do: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Pick "Last 7 days" or "Last 30 days"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Or check specific dates manually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Only those partitions get scanned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Everything else is skipped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730 PARTITIONS (2 YEARS)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614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Jan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7432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7614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Feb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7432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7614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7432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7614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Dec 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2004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186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Jan 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004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2186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2004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2186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Dec 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32004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2186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576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758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Jan 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6576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6758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Feb 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6576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6758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3657600"/>
            <a:ext cx="1005840" cy="347472"/>
          </a:xfrm>
          <a:prstGeom prst="roundRect">
            <a:avLst>
              <a:gd name="adj" fmla="val 2000"/>
            </a:avLst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3675888"/>
            <a:ext cx="1005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</a:defRPr>
            </a:pPr>
            <a:r>
              <a:t>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389120"/>
            <a:ext cx="1097280" cy="384048"/>
          </a:xfrm>
          <a:prstGeom prst="roundRect">
            <a:avLst>
              <a:gd name="adj" fmla="val 2000"/>
            </a:avLst>
          </a:prstGeom>
          <a:solidFill>
            <a:srgbClr val="1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42569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Mar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4389120"/>
            <a:ext cx="1097280" cy="384048"/>
          </a:xfrm>
          <a:prstGeom prst="roundRect">
            <a:avLst>
              <a:gd name="adj" fmla="val 2000"/>
            </a:avLst>
          </a:prstGeom>
          <a:solidFill>
            <a:srgbClr val="15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42569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Apr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983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t>Only 2 out of 730 partitions scanned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Same Data, Same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4747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</a:defRPr>
            </a:pPr>
            <a:r>
              <a:t>WITHOUT PRUNING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F87171"/>
                </a:solidFill>
              </a:defRPr>
            </a:pPr>
            <a:r>
              <a:t>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Scans all 730 partitions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Reads 2.4 TB from S3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Slow, expensive, wasteful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9260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34747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0292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WITH QUERYSTUDIO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6888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4ADE80"/>
                </a:solidFill>
              </a:defRPr>
            </a:pPr>
            <a:r>
              <a:t>5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474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Scans 2 selected partitions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Reads 6.5 GB from S3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Fast, cheap, efficient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8BDF8"/>
                </a:solidFill>
              </a:defRPr>
            </a:pPr>
            <a:r>
              <a:t>End users just pick a date range. QueryStudio figures out which partitions to read.</a:t>
            </a:r>
          </a:p>
          <a:p>
            <a:pPr>
              <a:spcAft>
                <a:spcPts val="300"/>
              </a:spcAft>
              <a:defRPr sz="1400">
                <a:solidFill>
                  <a:srgbClr val="38BDF8"/>
                </a:solidFill>
              </a:defRPr>
            </a:pPr>
            <a:r>
              <a:t>500x speedup on the same table, same columns, same filters.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Visual Query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Point and click to build queries. SQL is generated and always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502920"/>
          </a:xfrm>
          <a:prstGeom prst="roundRect">
            <a:avLst>
              <a:gd name="adj" fmla="val 2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Select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920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920240"/>
            <a:ext cx="1920240" cy="502920"/>
          </a:xfrm>
          <a:prstGeom prst="roundRect">
            <a:avLst>
              <a:gd name="adj" fmla="val 2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Pick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20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920240"/>
            <a:ext cx="1920240" cy="502920"/>
          </a:xfrm>
          <a:prstGeom prst="roundRect">
            <a:avLst>
              <a:gd name="adj" fmla="val 2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6596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Add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20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920240"/>
            <a:ext cx="1920240" cy="502920"/>
          </a:xfrm>
          <a:prstGeom prst="roundRect">
            <a:avLst>
              <a:gd name="adj" fmla="val 2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96596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Partitions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920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920240"/>
            <a:ext cx="1920240" cy="502920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96596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What end users see: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Drag-and-drop column picker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Click-to-add filter builder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SQL preview (live, read-only)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Results grid with sort &amp; search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Row count + execution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What happens under the hood: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Config → optimized SQL with pruning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DuckDB engine for S3 Parquet/Iceberg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Isolated subprocess (crash-safe)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WebSocket progress in real time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  •  Results cached as Parquet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Export to CSV, Excel, or JSON in one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Save &amp; Reuse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Build once, reuse any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39319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Everything gets saved: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Tables, columns, filters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Partition selections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Join conditions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Generated SQL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Named + described so others can find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6576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393192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</a:defRPr>
            </a:pPr>
            <a:r>
              <a:t>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Click to reload full query state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Modify and re-run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Publish as read-only data view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Schedule daily/weekly execution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•  Use as feed source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     (deliver to S3, Oracle, SFTP)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Submit &amp; Walk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Big queries run on the server. Results stick around for 7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173736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4688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10312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Click Run.</a:t>
            </a:r>
            <a:br/>
            <a:r>
              <a:t>Goes to server queue.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468880" cy="173736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24688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031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Close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260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Go do other work.</a:t>
            </a:r>
            <a:br/>
            <a:r>
              <a:t>Query keeps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2468880" cy="173736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246888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210312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Come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260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Check Execution History.</a:t>
            </a:r>
            <a:br/>
            <a:r>
              <a:t>Results are there.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4688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920240"/>
            <a:ext cx="2468880" cy="1737360"/>
          </a:xfrm>
          <a:prstGeom prst="roundRect">
            <a:avLst>
              <a:gd name="adj" fmla="val 3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920240"/>
            <a:ext cx="246888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04120" y="210312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060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9260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CSV, Excel, JSON.</a:t>
            </a:r>
            <a:br/>
            <a:r>
              <a:t>Share with the team.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Execution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34840"/>
            <a:ext cx="1069848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453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53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53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453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46320"/>
            <a:ext cx="10698480" cy="329184"/>
          </a:xfrm>
          <a:prstGeom prst="roundRect">
            <a:avLst>
              <a:gd name="adj" fmla="val 1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GL Transactions — Apr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8646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</a:defRPr>
            </a:pPr>
            <a:r>
              <a:t>Completed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646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125,430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8646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4.2s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86460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Today 09:15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230368"/>
            <a:ext cx="10698480" cy="329184"/>
          </a:xfrm>
          <a:prstGeom prst="roundRect">
            <a:avLst>
              <a:gd name="adj" fmla="val 1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24865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Trade Positions — Q1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24865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</a:defRPr>
            </a:pPr>
            <a:r>
              <a:t>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24865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2,341,000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2486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38s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52486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Today 08:42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614416"/>
            <a:ext cx="10698480" cy="329184"/>
          </a:xfrm>
          <a:prstGeom prst="roundRect">
            <a:avLst>
              <a:gd name="adj" fmla="val 1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63270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Investment Portfolio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6327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Running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32704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63270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12s...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6327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998464"/>
            <a:ext cx="10698480" cy="329184"/>
          </a:xfrm>
          <a:prstGeom prst="roundRect">
            <a:avLst>
              <a:gd name="adj" fmla="val 1000"/>
            </a:avLst>
          </a:prstGeom>
          <a:solidFill>
            <a:srgbClr val="16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601675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Risk Report — Full History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60167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</a:defRPr>
            </a:pPr>
            <a:r>
              <a:t>Failed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60167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60167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Yesterday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1645920"/>
            <a:ext cx="21031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QueryStudio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Self-Service Data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BBF24"/>
                </a:solidFill>
              </a:defRPr>
            </a:pPr>
            <a:r>
              <a:t>Connect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91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S3 on-prem, cloud, databases, local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7673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4ADE80"/>
                </a:solidFill>
              </a:defRPr>
            </a:pPr>
            <a:r>
              <a:t>Partition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673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45-min queries done in 5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24281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38BDF8"/>
                </a:solidFill>
              </a:defRPr>
            </a:pPr>
            <a:r>
              <a:t>Visual Query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4281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No SQL needed, SQL always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71830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22D3EE"/>
                </a:solidFill>
              </a:defRPr>
            </a:pPr>
            <a:r>
              <a:t>Async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1830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Submit, close browser, come back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1937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Enterprise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937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Audit trail, role-based access, scheduling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291840"/>
            <a:ext cx="27432" cy="228600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